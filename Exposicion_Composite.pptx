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</p:sldIdLst>
  <p:sldSz cx="18288000" cy="10287000"/>
  <p:notesSz cx="6858000" cy="9144000"/>
  <p:embeddedFontLst>
    <p:embeddedFont>
      <p:font typeface="Montserrat" panose="020F0502020204030204" pitchFamily="2" charset="0"/>
      <p:regular r:id="rId18"/>
    </p:embeddedFont>
    <p:embeddedFont>
      <p:font typeface="Montserrat Bold" panose="020B0604020202020204" charset="0"/>
      <p:regular r:id="rId19"/>
    </p:embeddedFont>
    <p:embeddedFont>
      <p:font typeface="Montserrat Heav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5" autoAdjust="0"/>
    <p:restoredTop sz="94622" autoAdjust="0"/>
  </p:normalViewPr>
  <p:slideViewPr>
    <p:cSldViewPr>
      <p:cViewPr>
        <p:scale>
          <a:sx n="58" d="100"/>
          <a:sy n="58" d="100"/>
        </p:scale>
        <p:origin x="451" y="-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869680" y="3429000"/>
            <a:ext cx="8778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6600" b="1" i="0" dirty="0">
                <a:solidFill>
                  <a:srgbClr val="1B5B25"/>
                </a:solidFill>
                <a:latin typeface="Montserrat Bold"/>
                <a:cs typeface="Montserrat Bold"/>
              </a:rPr>
              <a:t>Composite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869680" y="4937760"/>
            <a:ext cx="8778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3400" b="0" i="0" dirty="0">
                <a:solidFill>
                  <a:srgbClr val="1B5B25"/>
                </a:solidFill>
                <a:latin typeface="Montserrat"/>
                <a:cs typeface="Montserrat"/>
              </a:rPr>
              <a:t>Patrón de diseño estructural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480560" y="9098280"/>
            <a:ext cx="1344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i="1" dirty="0">
                <a:solidFill>
                  <a:srgbClr val="1B5B25"/>
                </a:solidFill>
                <a:latin typeface="Montserrat"/>
                <a:cs typeface="Montserrat"/>
              </a:rPr>
              <a:t>Alejandro Franco | Jampier Valencia | Patrones de diseño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¿Qué es el patrón Composite?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" y="2286000"/>
            <a:ext cx="9326880" cy="6035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s-CO" sz="2800" b="0" i="0" dirty="0">
                <a:solidFill>
                  <a:srgbClr val="010101"/>
                </a:solidFill>
                <a:latin typeface="Montserrat"/>
                <a:cs typeface="Montserrat"/>
              </a:rPr>
              <a:t>Es un patrón de diseño estructural que permite componer objetos en estructuras de árbol y trabajar con ellas como si fueran un único objeto.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800" b="0" i="0" dirty="0">
                <a:solidFill>
                  <a:srgbClr val="010101"/>
                </a:solidFill>
                <a:latin typeface="Montserrat"/>
                <a:cs typeface="Montserrat"/>
              </a:rPr>
              <a:t>Su gran característica: ejecutar un método de forma recursiva por todo el árbol y recapitular los resultados.</a:t>
            </a:r>
          </a:p>
        </p:txBody>
      </p:sp>
      <p:sp>
        <p:nvSpPr>
          <p:cNvPr id="5" name="Shape 5"/>
          <p:cNvSpPr/>
          <p:nvPr/>
        </p:nvSpPr>
        <p:spPr>
          <a:xfrm>
            <a:off x="10789920" y="2286000"/>
            <a:ext cx="6675120" cy="6035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También llamado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3000" b="1" i="0" dirty="0">
                <a:solidFill>
                  <a:srgbClr val="FFFFFF"/>
                </a:solidFill>
                <a:latin typeface="Montserrat Bold"/>
                <a:cs typeface="Montserrat Bold"/>
              </a:rPr>
              <a:t>Objeto compuesto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CO" sz="3000" b="1" i="0" dirty="0">
                <a:solidFill>
                  <a:srgbClr val="FFFFFF"/>
                </a:solidFill>
                <a:latin typeface="Montserrat Bold"/>
                <a:cs typeface="Montserrat Bold"/>
              </a:rPr>
              <a:t>Object Tree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Idea clave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Tratar igual lo simple y lo compuesto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El problema: el parqueadero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86000"/>
            <a:ext cx="78638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3000" b="1" i="0" dirty="0">
                <a:solidFill>
                  <a:srgbClr val="FFFFFF"/>
                </a:solidFill>
                <a:latin typeface="Montserrat Bold"/>
                <a:cs typeface="Montserrat Bold"/>
              </a:rPr>
              <a:t>Problema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Un parqueadero tiene una entrada, con zonas, y cada zona tiene plazas (o incluso otras zonas).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200" b="1" i="0" dirty="0">
                <a:solidFill>
                  <a:srgbClr val="FFFFFF"/>
                </a:solidFill>
                <a:latin typeface="Montserrat Bold"/>
                <a:cs typeface="Montserrat Bold"/>
              </a:rPr>
              <a:t>Queremos saber cuántas plazas libres hay y aparcar un coche en la primera disponible.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Montserrat"/>
                <a:cs typeface="Montserrat"/>
              </a:rPr>
              <a:t>Distinguir plazas de zonas y recorrer cada nivel a mano llena el código de condicionales, y se rompe al agregar una zona nueva.</a:t>
            </a:r>
          </a:p>
        </p:txBody>
      </p:sp>
      <p:sp>
        <p:nvSpPr>
          <p:cNvPr id="5" name="Shape 5"/>
          <p:cNvSpPr/>
          <p:nvPr/>
        </p:nvSpPr>
        <p:spPr>
          <a:xfrm>
            <a:off x="9144000" y="2286000"/>
            <a:ext cx="83210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2600" b="1" i="0" dirty="0">
                <a:solidFill>
                  <a:srgbClr val="FFFFFF"/>
                </a:solidFill>
                <a:latin typeface="Courier New"/>
                <a:cs typeface="Courier New"/>
              </a:rPr>
              <a:t>Entrada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├─ Zona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│   ├─ Plaza A1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│   ├─ Plaza A2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│   └─ Plaza A3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└─ Zona 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    ├─ Plaza B1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2300" b="0" i="0" dirty="0">
                <a:solidFill>
                  <a:srgbClr val="E9E8E9"/>
                </a:solidFill>
                <a:latin typeface="Courier New"/>
                <a:cs typeface="Courier New"/>
              </a:rPr>
              <a:t>    └─ Plaza B2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0" i="0" dirty="0">
                <a:solidFill>
                  <a:srgbClr val="FFFFFF"/>
                </a:solidFill>
                <a:latin typeface="Montserrat"/>
                <a:cs typeface="Montserrat"/>
              </a:rPr>
              <a:t>Estructura en forma de árbol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La solución que propone Composite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377440"/>
            <a:ext cx="1463040" cy="14630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5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1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2743200" y="2240280"/>
            <a:ext cx="1444752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2200" b="1" i="0" dirty="0">
                <a:solidFill>
                  <a:srgbClr val="457A00"/>
                </a:solidFill>
                <a:latin typeface="Montserrat Bold"/>
                <a:cs typeface="Montserrat Bold"/>
              </a:rPr>
              <a:t>INTERFAZ COMÚN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400" b="0" i="0" dirty="0">
                <a:solidFill>
                  <a:srgbClr val="010101"/>
                </a:solidFill>
                <a:latin typeface="Montserrat"/>
                <a:cs typeface="Montserrat"/>
              </a:rPr>
              <a:t>Plazas y zonas se manejan con la misma interfaz, ParqueComponent, que declara PlazasDisponibles() y Aparcar().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4480560"/>
            <a:ext cx="1463040" cy="14630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5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2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743200" y="4343400"/>
            <a:ext cx="1444752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2200" b="1" i="0" dirty="0">
                <a:solidFill>
                  <a:srgbClr val="457A00"/>
                </a:solidFill>
                <a:latin typeface="Montserrat Bold"/>
                <a:cs typeface="Montserrat Bold"/>
              </a:rPr>
              <a:t>RECURSIÓN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400" b="0" i="0" dirty="0">
                <a:solidFill>
                  <a:srgbClr val="010101"/>
                </a:solidFill>
                <a:latin typeface="Montserrat"/>
                <a:cs typeface="Montserrat"/>
              </a:rPr>
              <a:t>Una Plaza responde 1 si está libre y 0 si está ocupada. Una Zona recorre sus hijos y suma lo que responde cada uno; si adentro hay otra zona, esa hace lo mismo.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6583680"/>
            <a:ext cx="1463040" cy="14630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5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3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743200" y="6446520"/>
            <a:ext cx="1444752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2200" b="1" i="0" dirty="0">
                <a:solidFill>
                  <a:srgbClr val="457A00"/>
                </a:solidFill>
                <a:latin typeface="Montserrat Bold"/>
                <a:cs typeface="Montserrat Bold"/>
              </a:rPr>
              <a:t>CLIENTE TRANQUILO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400" b="0" i="0" dirty="0">
                <a:solidFill>
                  <a:srgbClr val="010101"/>
                </a:solidFill>
                <a:latin typeface="Montserrat"/>
                <a:cs typeface="Montserrat"/>
              </a:rPr>
              <a:t>Quien usa el parqueadero solo llama a entrada.PlazasDisponibles() o entrada.Aparcar(); no le importa cuántas zonas o plazas haya.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Analogía y ejemplos reales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86000"/>
            <a:ext cx="78638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3000" b="1" i="0" dirty="0">
                <a:solidFill>
                  <a:srgbClr val="FFFFFF"/>
                </a:solidFill>
                <a:latin typeface="Montserrat Bold"/>
                <a:cs typeface="Montserrat Bold"/>
              </a:rPr>
              <a:t>El parqueadero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La entrada da acceso a zonas, cada zona agrupa plazas y una plaza es el lugar donde se estaciona un coche.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Preguntar a la entrada cuántas plazas libres hay es preguntarle a cada zona, y a cada zona, a cada plaza.</a:t>
            </a:r>
          </a:p>
        </p:txBody>
      </p:sp>
      <p:sp>
        <p:nvSpPr>
          <p:cNvPr id="5" name="Shape 5"/>
          <p:cNvSpPr/>
          <p:nvPr/>
        </p:nvSpPr>
        <p:spPr>
          <a:xfrm>
            <a:off x="9144000" y="2286000"/>
            <a:ext cx="83210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3000" b="1" i="0" dirty="0">
                <a:solidFill>
                  <a:srgbClr val="FFFFFF"/>
                </a:solidFill>
                <a:latin typeface="Montserrat Bold"/>
                <a:cs typeface="Montserrat Bold"/>
              </a:rPr>
              <a:t>Dónde más lo vemos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300" b="0" i="0" dirty="0">
                <a:solidFill>
                  <a:srgbClr val="FFFFFF"/>
                </a:solidFill>
                <a:latin typeface="Montserrat"/>
                <a:cs typeface="Montserrat"/>
              </a:rPr>
              <a:t>•  Archivos y carpetas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300" b="0" i="0" dirty="0">
                <a:solidFill>
                  <a:srgbClr val="FFFFFF"/>
                </a:solidFill>
                <a:latin typeface="Montserrat"/>
                <a:cs typeface="Montserrat"/>
              </a:rPr>
              <a:t>•  Componentes de una interfaz gráfica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300" b="0" i="0" dirty="0">
                <a:solidFill>
                  <a:srgbClr val="FFFFFF"/>
                </a:solidFill>
                <a:latin typeface="Montserrat"/>
                <a:cs typeface="Montserrat"/>
              </a:rPr>
              <a:t>•  Formas agrupadas en un editor gráfico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300" b="0" i="0" dirty="0">
                <a:solidFill>
                  <a:srgbClr val="FFFFFF"/>
                </a:solidFill>
                <a:latin typeface="Montserrat"/>
                <a:cs typeface="Montserrat"/>
              </a:rPr>
              <a:t>•  Menús con submenús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300" b="0" i="0" dirty="0">
                <a:solidFill>
                  <a:srgbClr val="FFFFFF"/>
                </a:solidFill>
                <a:latin typeface="Montserrat"/>
                <a:cs typeface="Montserrat"/>
              </a:rPr>
              <a:t>•  Tareas y grupos de tareas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300" b="0" i="0" dirty="0">
                <a:solidFill>
                  <a:srgbClr val="FFFFFF"/>
                </a:solidFill>
                <a:latin typeface="Montserrat"/>
                <a:cs typeface="Montserrat"/>
              </a:rPr>
              <a:t>•  Organigramas de una empresa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Participantes del patrón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651760"/>
            <a:ext cx="3931920" cy="58521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500" b="1" i="0" dirty="0">
                <a:solidFill>
                  <a:srgbClr val="FFFFFF"/>
                </a:solidFill>
                <a:latin typeface="Montserrat Bold"/>
                <a:cs typeface="Montserrat Bold"/>
              </a:rPr>
              <a:t>Component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Montserrat"/>
                <a:cs typeface="Montserrat"/>
              </a:rPr>
              <a:t>ParqueComponent: interfaz con Add, Remove, IsComposite, PlazasDisponibles() y Aparcar().</a:t>
            </a:r>
          </a:p>
        </p:txBody>
      </p:sp>
      <p:sp>
        <p:nvSpPr>
          <p:cNvPr id="5" name="Shape 5"/>
          <p:cNvSpPr/>
          <p:nvPr/>
        </p:nvSpPr>
        <p:spPr>
          <a:xfrm>
            <a:off x="228600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CBCB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010101"/>
                </a:solidFill>
                <a:latin typeface="Montserrat Heavy"/>
                <a:cs typeface="Montserrat Heavy"/>
              </a:rPr>
              <a:t>1</a:t>
            </a:r>
          </a:p>
        </p:txBody>
      </p:sp>
      <p:sp>
        <p:nvSpPr>
          <p:cNvPr id="6" name="Shape 6"/>
          <p:cNvSpPr/>
          <p:nvPr/>
        </p:nvSpPr>
        <p:spPr>
          <a:xfrm>
            <a:off x="5029200" y="2651760"/>
            <a:ext cx="3931920" cy="58521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500" b="1" i="0" dirty="0">
                <a:solidFill>
                  <a:srgbClr val="FFFFFF"/>
                </a:solidFill>
                <a:latin typeface="Montserrat Bold"/>
                <a:cs typeface="Montserrat Bold"/>
              </a:rPr>
              <a:t>Leaf (Hoja)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Montserrat"/>
                <a:cs typeface="Montserrat"/>
              </a:rPr>
              <a:t>Plaza: elemento básico con Id y estado libre u ocupada. Responde por sí misma.</a:t>
            </a:r>
          </a:p>
        </p:txBody>
      </p:sp>
      <p:sp>
        <p:nvSpPr>
          <p:cNvPr id="7" name="Shape 7"/>
          <p:cNvSpPr/>
          <p:nvPr/>
        </p:nvSpPr>
        <p:spPr>
          <a:xfrm>
            <a:off x="649224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CBCB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010101"/>
                </a:solidFill>
                <a:latin typeface="Montserrat Heavy"/>
                <a:cs typeface="Montserrat Heavy"/>
              </a:rPr>
              <a:t>2</a:t>
            </a:r>
          </a:p>
        </p:txBody>
      </p:sp>
      <p:sp>
        <p:nvSpPr>
          <p:cNvPr id="8" name="Shape 8"/>
          <p:cNvSpPr/>
          <p:nvPr/>
        </p:nvSpPr>
        <p:spPr>
          <a:xfrm>
            <a:off x="9235440" y="2651760"/>
            <a:ext cx="3931920" cy="58521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500" b="1" i="0" dirty="0">
                <a:solidFill>
                  <a:srgbClr val="FFFFFF"/>
                </a:solidFill>
                <a:latin typeface="Montserrat Bold"/>
                <a:cs typeface="Montserrat Bold"/>
              </a:rPr>
              <a:t>Composite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Montserrat"/>
                <a:cs typeface="Montserrat"/>
              </a:rPr>
              <a:t>ZonaParqueo: guarda hijos (plazas u otras zonas), delega en ellos y suma los resultados.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CBCB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010101"/>
                </a:solidFill>
                <a:latin typeface="Montserrat Heavy"/>
                <a:cs typeface="Montserrat Heavy"/>
              </a:rPr>
              <a:t>3</a:t>
            </a:r>
          </a:p>
        </p:txBody>
      </p:sp>
      <p:sp>
        <p:nvSpPr>
          <p:cNvPr id="10" name="Shape 10"/>
          <p:cNvSpPr/>
          <p:nvPr/>
        </p:nvSpPr>
        <p:spPr>
          <a:xfrm>
            <a:off x="13441680" y="2651760"/>
            <a:ext cx="3931920" cy="58521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500" b="1" i="0" dirty="0">
                <a:solidFill>
                  <a:srgbClr val="FFFFFF"/>
                </a:solidFill>
                <a:latin typeface="Montserrat Bold"/>
                <a:cs typeface="Montserrat Bold"/>
              </a:rPr>
              <a:t>Client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Montserrat"/>
                <a:cs typeface="Montserrat"/>
              </a:rPr>
              <a:t>ParqueaderoUI: el menú de consola que muestra el estado, aparca y libera plazas.</a:t>
            </a:r>
          </a:p>
        </p:txBody>
      </p:sp>
      <p:sp>
        <p:nvSpPr>
          <p:cNvPr id="11" name="Shape 11"/>
          <p:cNvSpPr/>
          <p:nvPr/>
        </p:nvSpPr>
        <p:spPr>
          <a:xfrm>
            <a:off x="1490472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CBCB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010101"/>
                </a:solidFill>
                <a:latin typeface="Montserrat Heavy"/>
                <a:cs typeface="Montserrat Heavy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Diagrama de clases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2286000"/>
            <a:ext cx="5120640" cy="1645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400" b="1" i="0" dirty="0">
                <a:solidFill>
                  <a:srgbClr val="FFFFFF"/>
                </a:solidFill>
                <a:latin typeface="Montserrat Bold"/>
                <a:cs typeface="Montserrat Bold"/>
              </a:rPr>
              <a:t>ParqueaderoUI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Run()</a:t>
            </a:r>
          </a:p>
        </p:txBody>
      </p:sp>
      <p:sp>
        <p:nvSpPr>
          <p:cNvPr id="5" name="Shape 5"/>
          <p:cNvSpPr/>
          <p:nvPr/>
        </p:nvSpPr>
        <p:spPr>
          <a:xfrm>
            <a:off x="6400800" y="2103120"/>
            <a:ext cx="6766560" cy="31089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400" b="1" i="1" dirty="0">
                <a:solidFill>
                  <a:srgbClr val="FFFFFF"/>
                </a:solidFill>
                <a:latin typeface="Montserrat Bold"/>
                <a:cs typeface="Montserrat Bold"/>
              </a:rPr>
              <a:t>ParqueComponent «abstract»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Add(component)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Remove(component)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IsComposite(): bool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PlazasDisponibles(): 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Aparcar(): bool</a:t>
            </a:r>
          </a:p>
        </p:txBody>
      </p:sp>
      <p:sp>
        <p:nvSpPr>
          <p:cNvPr id="6" name="Shape 6"/>
          <p:cNvSpPr/>
          <p:nvPr/>
        </p:nvSpPr>
        <p:spPr>
          <a:xfrm>
            <a:off x="914400" y="5852160"/>
            <a:ext cx="6035040" cy="30175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400" b="1" i="0" dirty="0">
                <a:solidFill>
                  <a:srgbClr val="FFFFFF"/>
                </a:solidFill>
                <a:latin typeface="Montserrat Bold"/>
                <a:cs typeface="Montserrat Bold"/>
              </a:rPr>
              <a:t>Plaza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Id: string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- _ocupada: bool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Ocupada: bool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Salir()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PlazasDisponibles(): 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Aparcar(): bool</a:t>
            </a:r>
          </a:p>
        </p:txBody>
      </p:sp>
      <p:sp>
        <p:nvSpPr>
          <p:cNvPr id="7" name="Shape 7"/>
          <p:cNvSpPr/>
          <p:nvPr/>
        </p:nvSpPr>
        <p:spPr>
          <a:xfrm>
            <a:off x="9509760" y="5669280"/>
            <a:ext cx="8138160" cy="33832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400" b="1" i="0" dirty="0">
                <a:solidFill>
                  <a:srgbClr val="FFFFFF"/>
                </a:solidFill>
                <a:latin typeface="Montserrat Bold"/>
                <a:cs typeface="Montserrat Bold"/>
              </a:rPr>
              <a:t>ZonaParqueo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- _hijos: List&lt;ParqueComponent&gt;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Nombre: string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Add(component) / Remove(component)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PlazasDisponibles(): 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Aparcar(): bool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LiberarPlaza(id): bool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+ GetHijos()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5760720" y="3108960"/>
            <a:ext cx="640080" cy="0"/>
          </a:xfrm>
          <a:prstGeom prst="line">
            <a:avLst/>
          </a:prstGeom>
          <a:ln w="38100">
            <a:solidFill>
              <a:srgbClr val="010101"/>
            </a:solidFill>
            <a:tailEnd type="triangle" w="lg" len="lg"/>
          </a:ln>
        </p:spPr>
      </p:cxnSp>
      <p:cxnSp>
        <p:nvCxnSpPr>
          <p:cNvPr id="9" name="Line 9"/>
          <p:cNvCxnSpPr/>
          <p:nvPr/>
        </p:nvCxnSpPr>
        <p:spPr>
          <a:xfrm flipV="1">
            <a:off x="3931920" y="5212080"/>
            <a:ext cx="3931920" cy="640080"/>
          </a:xfrm>
          <a:prstGeom prst="line">
            <a:avLst/>
          </a:prstGeom>
          <a:ln w="50800">
            <a:solidFill>
              <a:srgbClr val="457A00"/>
            </a:solidFill>
            <a:tailEnd type="triangle" w="lg" len="lg"/>
          </a:ln>
        </p:spPr>
      </p:cxnSp>
      <p:cxnSp>
        <p:nvCxnSpPr>
          <p:cNvPr id="10" name="Line 10"/>
          <p:cNvCxnSpPr/>
          <p:nvPr/>
        </p:nvCxnSpPr>
        <p:spPr>
          <a:xfrm flipH="1" flipV="1">
            <a:off x="10789920" y="5212080"/>
            <a:ext cx="731520" cy="457200"/>
          </a:xfrm>
          <a:prstGeom prst="line">
            <a:avLst/>
          </a:prstGeom>
          <a:ln w="50800">
            <a:solidFill>
              <a:srgbClr val="457A00"/>
            </a:solidFill>
            <a:tailEnd type="triangle" w="lg" len="lg"/>
          </a:ln>
        </p:spPr>
      </p:cxnSp>
      <p:cxnSp>
        <p:nvCxnSpPr>
          <p:cNvPr id="11" name="Line 11"/>
          <p:cNvCxnSpPr/>
          <p:nvPr/>
        </p:nvCxnSpPr>
        <p:spPr>
          <a:xfrm flipH="1" flipV="1">
            <a:off x="13167360" y="3931920"/>
            <a:ext cx="3657600" cy="1737360"/>
          </a:xfrm>
          <a:prstGeom prst="line">
            <a:avLst/>
          </a:prstGeom>
          <a:ln w="38100">
            <a:solidFill>
              <a:srgbClr val="010101"/>
            </a:solidFill>
            <a:headEnd type="diamond" w="lg" len="lg"/>
          </a:ln>
        </p:spPr>
      </p:cxnSp>
      <p:sp>
        <p:nvSpPr>
          <p:cNvPr id="12" name="Shape 12"/>
          <p:cNvSpPr txBox="1"/>
          <p:nvPr/>
        </p:nvSpPr>
        <p:spPr>
          <a:xfrm>
            <a:off x="14996160" y="42976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000" b="1" i="0" dirty="0">
                <a:solidFill>
                  <a:srgbClr val="010101"/>
                </a:solidFill>
                <a:latin typeface="Montserrat Bold"/>
                <a:cs typeface="Montserrat Bold"/>
              </a:rPr>
              <a:t>0..*  _hijos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40080" y="429768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010101"/>
                </a:solidFill>
                <a:latin typeface="Montserrat"/>
                <a:cs typeface="Montserrat"/>
              </a:rPr>
              <a:t>Flecha verde = hereda. Rombo = la zona contiene componentes.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Ejemplo en C#: componente y hoja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2194560"/>
            <a:ext cx="8138160" cy="6400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abstract class ParqueComponent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virtual void Add(ParqueComponent 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{ throw new NotImplementedException();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virtual void Remove(ParqueComponent 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{ throw new NotImplementedException();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virtual bool IsComposite() =&gt; true;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abstract int PlazasDisponibles();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abstract bool Aparcar();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Shape 5"/>
          <p:cNvSpPr/>
          <p:nvPr/>
        </p:nvSpPr>
        <p:spPr>
          <a:xfrm>
            <a:off x="9052560" y="2194560"/>
            <a:ext cx="8595360" cy="6400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class Plaza : ParqueComponent   // hoja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string Id { get;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private bool _ocupada;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bool Ocupada =&gt; _ocupada;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int PlazasDisponibles()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=&gt; _ocupada ? 0 : 1;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bool Aparcar()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if (_ocupada) return false;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_ocupada = true;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return true;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void Salir() { _ocupada = false;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bool IsComposite() =&gt; false;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Ejemplo en C#: la zona (Composite)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2194560"/>
            <a:ext cx="9966960" cy="6400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class ZonaParqueo : ParqueComponent   // composite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private readonly List&lt;ParqueComponent&gt; _hijos = new();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void Add(ParqueComponent 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=&gt; _hijos.Add(component);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void Remove(ParqueComponent component)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=&gt; _hijos.Remove(component);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int PlazasDisponibles()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int total = 0;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foreach (var h in _hijos) total += h.PlazasDisponibles();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return total;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public override bool Aparcar()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foreach (var h in _hijos)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  if (h.Aparcar()) return true;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  return false;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E9E8E9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Shape 5"/>
          <p:cNvSpPr/>
          <p:nvPr/>
        </p:nvSpPr>
        <p:spPr>
          <a:xfrm>
            <a:off x="10881360" y="2194560"/>
            <a:ext cx="6766560" cy="6400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400" b="1" i="0" dirty="0">
                <a:solidFill>
                  <a:srgbClr val="FFFFFF"/>
                </a:solidFill>
                <a:latin typeface="Montserrat Bold"/>
                <a:cs typeface="Montserrat Bold"/>
              </a:rPr>
              <a:t>LiberarPlaza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public bool LiberarPlaza(string id)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foreach (var h in _hijos)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  if (h is Plaza p &amp;&amp; p.Id == id)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  { p.Salir(); return true;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  if (h is ZonaParqueo 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      &amp;&amp; z.LiberarPlaza(id))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    return true;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  return false;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E9E8E9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0" i="0" dirty="0">
                <a:solidFill>
                  <a:srgbClr val="FFFFFF"/>
                </a:solidFill>
                <a:latin typeface="Montserrat"/>
                <a:cs typeface="Montserrat"/>
              </a:rPr>
              <a:t>Búsqueda recursiva: cada zona se lo pregunta a sus hijos.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El cliente y la salida en consola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2194560"/>
            <a:ext cx="8778240" cy="6400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var entrada = new ZonaParqueo("Entrada");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var zonaA = new ZonaParqueo("Zona A");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zonaA.Add(new Plaza("A1"));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zonaA.Add(new Plaza("A2"));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zonaA.Add(new Plaza("A3"));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var zonaB = new ZonaParqueo("Zona B");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zonaB.Add(new Plaza("B1"));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zonaB.Add(new Plaza("B2"));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entrada.Add(zonaA);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entrada.Add(zonaB);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entrada.PlazasDisponibles(); //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entrada.Aparcar();  // true (A1)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entrada.LiberarPlaza("B1");</a:t>
            </a:r>
          </a:p>
        </p:txBody>
      </p:sp>
      <p:sp>
        <p:nvSpPr>
          <p:cNvPr id="5" name="Shape 5"/>
          <p:cNvSpPr/>
          <p:nvPr/>
        </p:nvSpPr>
        <p:spPr>
          <a:xfrm>
            <a:off x="9692640" y="2194560"/>
            <a:ext cx="7955280" cy="6400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CO" sz="2400" b="1" i="0" dirty="0">
                <a:solidFill>
                  <a:srgbClr val="FFFFFF"/>
                </a:solidFill>
                <a:latin typeface="Montserrat Bold"/>
                <a:cs typeface="Montserrat Bold"/>
              </a:rPr>
              <a:t>Opción 1 del menú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+ Zona Entrada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+ Zona Zona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- Plaza A1: Libre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- Plaza A2: Libre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- Plaza A3: Libre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+ Zona Zona 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- Plaza B1: Libre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    - Plaza B2: Libre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E9E8E9"/>
                </a:solidFill>
                <a:latin typeface="Courier New"/>
                <a:cs typeface="Courier New"/>
              </a:rPr>
              <a:t>Plazas disponibles: 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FFFFFF"/>
                </a:solidFill>
                <a:latin typeface="Montserrat"/>
                <a:cs typeface="Montserrat"/>
              </a:rPr>
              <a:t>El menú no revisa si es zona o plaza: recorre el árbol con la misma llamada.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Cómo lo aplicamos en el parqueadero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1005840" cy="10058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1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2194560" y="2148840"/>
            <a:ext cx="1499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dirty="0">
                <a:solidFill>
                  <a:srgbClr val="010101"/>
                </a:solidFill>
                <a:latin typeface="Montserrat"/>
                <a:cs typeface="Montserrat"/>
              </a:rPr>
              <a:t>Verificamos que el modelo sea un árbol: entrada, zonas y plazas.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3538728"/>
            <a:ext cx="1005840" cy="10058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2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194560" y="3447288"/>
            <a:ext cx="1499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dirty="0">
                <a:solidFill>
                  <a:srgbClr val="010101"/>
                </a:solidFill>
                <a:latin typeface="Montserrat"/>
                <a:cs typeface="Montserrat"/>
              </a:rPr>
              <a:t>Declaramos ParqueComponent con PlazasDisponibles() y Aparcar().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4837176"/>
            <a:ext cx="1005840" cy="10058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3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194560" y="4745736"/>
            <a:ext cx="1499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dirty="0">
                <a:solidFill>
                  <a:srgbClr val="010101"/>
                </a:solidFill>
                <a:latin typeface="Montserrat"/>
                <a:cs typeface="Montserrat"/>
              </a:rPr>
              <a:t>Creamos la hoja Plaza, que puede estar libre u ocupada.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6135624"/>
            <a:ext cx="1005840" cy="10058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4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2194560" y="6044184"/>
            <a:ext cx="1499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dirty="0">
                <a:solidFill>
                  <a:srgbClr val="010101"/>
                </a:solidFill>
                <a:latin typeface="Montserrat"/>
                <a:cs typeface="Montserrat"/>
              </a:rPr>
              <a:t>Creamos ZonaParqueo con una lista de ParqueComponent que delega el trabajo en sus hijos.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7434072"/>
            <a:ext cx="1005840" cy="1005840"/>
          </a:xfrm>
          <a:prstGeom prst="ellipse">
            <a:avLst/>
          </a:prstGeom>
          <a:solidFill>
            <a:srgbClr val="01010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20" b="1" i="0" dirty="0">
                <a:solidFill>
                  <a:srgbClr val="FFFFFF"/>
                </a:solidFill>
                <a:latin typeface="Montserrat Heavy"/>
                <a:cs typeface="Montserrat Heavy"/>
              </a:rPr>
              <a:t>5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2194560" y="7342632"/>
            <a:ext cx="1499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dirty="0">
                <a:solidFill>
                  <a:srgbClr val="010101"/>
                </a:solidFill>
                <a:latin typeface="Montserrat"/>
                <a:cs typeface="Montserrat"/>
              </a:rPr>
              <a:t>Declaramos Add y Remove en ParqueComponent (variante transparente); ZonaParqueo los implementa y agrega LiberarPlaza.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Variantes: transparente y segura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86000"/>
            <a:ext cx="78638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Composite transparente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Los métodos para administrar hijos (Add, Remove) se declaran en Component.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Ventaja: el cliente trata todo por igual.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Costo: las hojas heredan operaciones sin sentido.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i="0" dirty="0">
                <a:solidFill>
                  <a:srgbClr val="FFFFFF"/>
                </a:solidFill>
                <a:latin typeface="Montserrat Bold"/>
                <a:cs typeface="Montserrat Bold"/>
              </a:rPr>
              <a:t>Nuestro parqueadero usa esta variante: Plaza hereda Add y Remove y lanza NotImplementedException.</a:t>
            </a:r>
          </a:p>
        </p:txBody>
      </p:sp>
      <p:sp>
        <p:nvSpPr>
          <p:cNvPr id="5" name="Shape 5"/>
          <p:cNvSpPr/>
          <p:nvPr/>
        </p:nvSpPr>
        <p:spPr>
          <a:xfrm>
            <a:off x="9144000" y="2286000"/>
            <a:ext cx="83210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Composite seguro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La gestión de hijos se declara solo en la clase Composite.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Ventaja: protege a las hojas de operaciones no válidas.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i="0" dirty="0">
                <a:solidFill>
                  <a:srgbClr val="FFFFFF"/>
                </a:solidFill>
                <a:latin typeface="Montserrat"/>
                <a:cs typeface="Montserrat"/>
              </a:rPr>
              <a:t>Costo: el cliente debe conocer el tipo concreto para modificar la jerarquía.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Ventajas y desventajas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834640"/>
            <a:ext cx="7863840" cy="58521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Ventajas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•  Trabajas con árboles complejos usando polimorfismo y recursión.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•  Principio abierto/cerrado: agregas nuevos tipos sin romper el código existente.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•  El cliente no necesita condicionales para distinguir hojas de compuestos.</a:t>
            </a:r>
          </a:p>
        </p:txBody>
      </p:sp>
      <p:sp>
        <p:nvSpPr>
          <p:cNvPr id="5" name="Shape 5"/>
          <p:cNvSpPr/>
          <p:nvPr/>
        </p:nvSpPr>
        <p:spPr>
          <a:xfrm>
            <a:off x="9144000" y="2834640"/>
            <a:ext cx="8321040" cy="58521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Desventajas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•  Puede ser difícil dar una interfaz común a clases muy distintas.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•  A veces hay que generalizar de más el Component y se vuelve confuso.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•  Asume una jerarquía en árbol: evita referencias cruzadas entre nodos.</a:t>
            </a:r>
          </a:p>
        </p:txBody>
      </p:sp>
      <p:sp>
        <p:nvSpPr>
          <p:cNvPr id="6" name="Shape 6"/>
          <p:cNvSpPr/>
          <p:nvPr/>
        </p:nvSpPr>
        <p:spPr>
          <a:xfrm>
            <a:off x="4114800" y="233172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CBCB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010101"/>
                </a:solidFill>
                <a:latin typeface="Montserrat Heavy"/>
                <a:cs typeface="Montserrat Heavy"/>
              </a:rPr>
              <a:t>✓</a:t>
            </a:r>
          </a:p>
        </p:txBody>
      </p:sp>
      <p:sp>
        <p:nvSpPr>
          <p:cNvPr id="7" name="Shape 7"/>
          <p:cNvSpPr/>
          <p:nvPr/>
        </p:nvSpPr>
        <p:spPr>
          <a:xfrm>
            <a:off x="12710160" y="233172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CBCB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010101"/>
                </a:solidFill>
                <a:latin typeface="Montserrat Heavy"/>
                <a:cs typeface="Montserrat Heavy"/>
              </a:rPr>
              <a:t>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Relación con otros patrones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86000"/>
            <a:ext cx="78638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Colaboran con Composite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Builder: crea árboles complejos con pasos que funcionan de forma recursiva.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Iterator: recorre el árbol Composite.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Visitor: ejecuta una operación sobre todo el árbol.</a:t>
            </a:r>
          </a:p>
        </p:txBody>
      </p:sp>
      <p:sp>
        <p:nvSpPr>
          <p:cNvPr id="5" name="Shape 5"/>
          <p:cNvSpPr/>
          <p:nvPr/>
        </p:nvSpPr>
        <p:spPr>
          <a:xfrm>
            <a:off x="9144000" y="2286000"/>
            <a:ext cx="8321040" cy="63093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Montserrat Bold"/>
                <a:cs typeface="Montserrat Bold"/>
              </a:rPr>
              <a:t>Otras relaciones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Chain of Responsibility: una hoja pasa la solicitud a los padres hasta la raíz.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Flyweight: hojas compartidas para ahorrar memoria RAM.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O" sz="2100" b="0" i="0" dirty="0">
                <a:solidFill>
                  <a:srgbClr val="FFFFFF"/>
                </a:solidFill>
                <a:latin typeface="Montserrat"/>
                <a:cs typeface="Montserrat"/>
              </a:rPr>
              <a:t>Decorator: estructura parecida, pero solo tiene un hijo y añade responsabilidades al objeto envuelto.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3"/>
          <p:cNvSpPr txBox="1"/>
          <p:nvPr/>
        </p:nvSpPr>
        <p:spPr>
          <a:xfrm>
            <a:off x="822960" y="502920"/>
            <a:ext cx="12984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5000" b="1" i="0" dirty="0">
                <a:solidFill>
                  <a:srgbClr val="457A00"/>
                </a:solidFill>
                <a:latin typeface="Montserrat Bold"/>
                <a:cs typeface="Montserrat Bold"/>
              </a:rPr>
              <a:t>¿Cuándo utilizarlo?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" y="2286000"/>
            <a:ext cx="5212080" cy="6035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400" b="1" i="0" dirty="0">
                <a:solidFill>
                  <a:srgbClr val="457A00"/>
                </a:solidFill>
                <a:latin typeface="Montserrat Bold"/>
                <a:cs typeface="Montserrat Bold"/>
              </a:rPr>
              <a:t>Úsalo cuando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200" b="0" i="0" dirty="0">
                <a:solidFill>
                  <a:srgbClr val="010101"/>
                </a:solidFill>
                <a:latin typeface="Montserrat"/>
                <a:cs typeface="Montserrat"/>
              </a:rPr>
              <a:t>✔ El modelo se puede representar como un árbol.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200" b="0" i="0" dirty="0">
                <a:solidFill>
                  <a:srgbClr val="010101"/>
                </a:solidFill>
                <a:latin typeface="Montserrat"/>
                <a:cs typeface="Montserrat"/>
              </a:rPr>
              <a:t>✔ Quieres que el cliente trate igual elementos simples y complejos.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i="0" dirty="0">
                <a:solidFill>
                  <a:srgbClr val="010101"/>
                </a:solidFill>
                <a:latin typeface="Montserrat"/>
                <a:cs typeface="Montserrat"/>
              </a:rPr>
              <a:t>✔ Necesitas operaciones recursivas (dibujar, calcular precios, exportar).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400800" y="2286000"/>
            <a:ext cx="5394960" cy="6035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400" b="1" i="0" dirty="0">
                <a:solidFill>
                  <a:srgbClr val="457A00"/>
                </a:solidFill>
                <a:latin typeface="Montserrat Bold"/>
                <a:cs typeface="Montserrat Bold"/>
              </a:rPr>
              <a:t>Ten en cuenta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200" b="0" i="0" dirty="0">
                <a:solidFill>
                  <a:srgbClr val="010101"/>
                </a:solidFill>
                <a:latin typeface="Montserrat"/>
                <a:cs typeface="Montserrat"/>
              </a:rPr>
              <a:t>No pongas lógica compleja en los compuestos: coordinan y delegan.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2200" b="0" i="0" dirty="0">
                <a:solidFill>
                  <a:srgbClr val="010101"/>
                </a:solidFill>
                <a:latin typeface="Montserrat"/>
                <a:cs typeface="Montserrat"/>
              </a:rPr>
              <a:t>Evita dependencias cíclicas: es un árbol, no un grafo.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i="0" dirty="0">
                <a:solidFill>
                  <a:srgbClr val="010101"/>
                </a:solidFill>
                <a:latin typeface="Montserrat"/>
                <a:cs typeface="Montserrat"/>
              </a:rPr>
              <a:t>Verifica que la jerarquía sea estable; si no, basta una colección normal.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2161520" y="2286000"/>
            <a:ext cx="5303520" cy="6035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2400" b="1" i="0" dirty="0">
                <a:solidFill>
                  <a:srgbClr val="457A00"/>
                </a:solidFill>
                <a:latin typeface="Montserrat Bold"/>
                <a:cs typeface="Montserrat Bold"/>
              </a:rPr>
              <a:t>Conclusión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600" b="1" i="0" dirty="0">
                <a:solidFill>
                  <a:srgbClr val="010101"/>
                </a:solidFill>
                <a:latin typeface="Montserrat Bold"/>
                <a:cs typeface="Montserrat Bold"/>
              </a:rPr>
              <a:t>"Composite permite tratar de la misma forma a un objeto individual y a un grupo de objetos."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8549640"/>
            <a:ext cx="1280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555555"/>
                </a:solidFill>
                <a:latin typeface="Montserrat"/>
                <a:cs typeface="Montserrat"/>
              </a:rPr>
              <a:t>Fuentes: tutorialesprogramacionya.com · refactoring.guru · c-sharpcorner.com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1569</Words>
  <Application>Microsoft Office PowerPoint</Application>
  <PresentationFormat>Personalizado</PresentationFormat>
  <Paragraphs>234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Courier New</vt:lpstr>
      <vt:lpstr>Calibri</vt:lpstr>
      <vt:lpstr>Montserrat Heavy</vt:lpstr>
      <vt:lpstr>Montserrat Bold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Cadena de Responsabilidad - Diseño Orientado a Objetos</dc:title>
  <dc:creator>ASUS</dc:creator>
  <cp:lastModifiedBy>Yampi Valencia</cp:lastModifiedBy>
  <cp:revision>2</cp:revision>
  <dcterms:created xsi:type="dcterms:W3CDTF">2006-08-16T00:00:00Z</dcterms:created>
  <dcterms:modified xsi:type="dcterms:W3CDTF">2026-09-24T16:35:50Z</dcterms:modified>
  <dc:identifier>DAHUwMyatcA</dc:identifier>
</cp:coreProperties>
</file>